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Cambria"/>
              </a:rPr>
              <a:t>幻觉率对比（%，越低越好）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GDgpt 幻觉率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KG 覆盖充足</c:v>
                  </c:pt>
                  <c:pt idx="1">
                    <c:v>KG 部分覆盖</c:v>
                  </c:pt>
                  <c:pt idx="2">
                    <c:v>KG 无覆盖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8</c:v>
                </c:pt>
                <c:pt idx="2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GPT-4o 幻觉率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KG 覆盖充足</c:v>
                  </c:pt>
                  <c:pt idx="1">
                    <c:v>KG 部分覆盖</c:v>
                  </c:pt>
                  <c:pt idx="2">
                    <c:v>KG 无覆盖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35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GDgpt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560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精准肿瘤 MTB 辅助系统 · 项目进展汇报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74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场景落地   ·   安全降级   ·   Benchmark 对口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汇报人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叶文倩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 期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 本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v2.1（增量更新）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本次汇报 · 三个核心进展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6459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45920"/>
            <a:ext cx="356616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21031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故事对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用户场景讲清楚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85800" y="3703320"/>
            <a:ext cx="548640" cy="3657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8404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用一个真实 MTB 病例锚定用户价值，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从「泛生物医学 QA」收敛到「肿瘤医生会前准备」。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16459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645920"/>
            <a:ext cx="356616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6675120" y="210312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1031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反转卖点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提出核心新卖点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0" y="3703320"/>
            <a:ext cx="5486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8404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「KG 未覆盖时的安全降级」——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幻觉率降低 30 倍，才是 MTB 真正需要的。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1645920"/>
            <a:ext cx="35661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3880" y="1645920"/>
            <a:ext cx="356616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4582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24" name="Shape 22"/>
          <p:cNvSpPr/>
          <p:nvPr/>
        </p:nvSpPr>
        <p:spPr>
          <a:xfrm>
            <a:off x="10561320" y="2103120"/>
            <a:ext cx="960120" cy="320040"/>
          </a:xfrm>
          <a:prstGeom prst="roundRect">
            <a:avLst>
              <a:gd name="adj" fmla="val 22857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561320" y="21031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标准化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58200" y="3108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完美对口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458200" y="3703320"/>
            <a:ext cx="548640" cy="3657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8458200" y="384048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发现 MTBBench (2025-11) + PrimeKGQA (2024-10)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两个权威数据集，化解循环评测质疑。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71600" y="5989320"/>
            <a:ext cx="9418320" cy="502920"/>
          </a:xfrm>
          <a:prstGeom prst="roundRect">
            <a:avLst>
              <a:gd name="adj" fmla="val 18182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598932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一句话：先把「给谁用、为什么有用」讲透，再谈怎么评。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回顾：上次导师反馈 → 本次回应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54864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导师意见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之前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现在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场景不明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泛「生物医学 QA」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MTB 辅助（肿瘤医生·会前准备）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LLM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4 档：GPT-4o / 单 Agent+KG / RAG / OncoKB 手动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循环评测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生成 → KG 检索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外部 benchmark + 自制补充混搭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测系统非性能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Gene F1 = 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3 新指标：Traceability / Hallucination / Utility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数据量少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对标 Knowledge Connector (Nature Commun 2026)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场景锚定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MTB 场景：一个真实病例讲清楚用户价值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914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岁女性，HER2+ 乳腺癌，曲妥珠单抗 14 个月后肝转移，伴 PIK3CA H1047R 突变。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3949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14600"/>
            <a:ext cx="539496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传统 MTB 会前准备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1.5 小时 / 例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004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OncoKB 查靶点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查临床证据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精读 2-3 篇文献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NCCN 指南交叉核对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人工整理汇报材料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53949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514600"/>
            <a:ext cx="5394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514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GDgpt 辅助流程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5146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25 分钟 / 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2004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分钟自动生成结构化报告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分钟医生审核 + 采纳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每条结论挂 KG 边（可追溯）：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4343400"/>
            <a:ext cx="4846320" cy="11887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3891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(Trastuzumab)─[TARGETS]→(ERBB2)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(ERBB2)─[UPSTREAM_OF]→(PI3K/AKT)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(PIK3CA)─[BYPASS_RESIST]→(HER2_Rx)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差异化价值：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输出合理但</a:t>
            </a:r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无法溯源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；GDgpt 每句话挂 KG 边，医生能复核、能质疑、能采纳部分。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架构即论文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Agent → MTB 席位映射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6126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Agent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MTB 席位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在该病例的发言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GeneCurator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分子病理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ERBB2 驱动 + PIK3CA hotspot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DiseaseMechanismAnalyst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临床肿瘤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Trastuzumab 耐药 = PI3K 旁路激活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PathwayBiologist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转化研究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ERBB → PI3K / AKT / mTOR 共激活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DrugMechanismAnalyst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临床药师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T-DXd / Alpelisib / Tucatinib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EvidenceReviewer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质控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DESTINY-B03, SOLAR-1, OncoKB-L1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HypothesisIntegrator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MTB 主席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综合建议 + 完整 KG 边追溯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PhenotypeMapper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临床遗传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HPO 表型映射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0F1B3D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架构对标 </a:t>
            </a:r>
            <a:pPr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RareAgents (AAAI-26 Oral)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，但席位锚定肿瘤 MTB，不是通用 MDT。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反直觉但关键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核心新卖点：「KG 未覆盖时的安全降级」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463040"/>
            <a:ext cx="493776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75120" y="1463040"/>
            <a:ext cx="493776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论文核心叙事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3720" y="205740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答对率不是唯一指标。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在低覆盖场景宁可说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「证据不足，请外部核查」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，也</a:t>
            </a:r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绝不虚构药物名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幻觉率降低 </a:t>
            </a:r>
            <a:pPr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30×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（60% → 2%）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——这才是 MTB 临床真正需要的安全性。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577840"/>
            <a:ext cx="35661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557784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5806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8016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Prefetch 打 coverage 标签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80160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partial / low 三档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97680" y="5577840"/>
            <a:ext cx="35661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97680" y="557784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Shape 15"/>
          <p:cNvSpPr/>
          <p:nvPr/>
        </p:nvSpPr>
        <p:spPr>
          <a:xfrm>
            <a:off x="4480560" y="5806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6"/>
          <p:cNvSpPr/>
          <p:nvPr/>
        </p:nvSpPr>
        <p:spPr>
          <a:xfrm>
            <a:off x="448056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02920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prompt 诚实降级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证据不足时禁止编造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46720" y="5577840"/>
            <a:ext cx="35661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46720" y="5577840"/>
            <a:ext cx="73152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Shape 21"/>
          <p:cNvSpPr/>
          <p:nvPr/>
        </p:nvSpPr>
        <p:spPr>
          <a:xfrm>
            <a:off x="8229600" y="58064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2"/>
          <p:cNvSpPr/>
          <p:nvPr/>
        </p:nvSpPr>
        <p:spPr>
          <a:xfrm>
            <a:off x="8229600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77824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评测按 coverage 分层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778240" y="60533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指标按场景拆开报告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重大发现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两个 2024-25 权威 Benchmark 完美对口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53949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539496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MTBBench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2025-11 arXiv (ETH + EPFL + HUG)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 题（多模态 + 纵向文本）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我们用：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纵向文本子集 20 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对口原因：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 MTB 病例 + 纵向随访，与我们场景高度一致。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3949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508760"/>
            <a:ext cx="539496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087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PrimeKGQA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0" y="15087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28600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发布：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2024-10 Zenodo (Hamburg)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规模：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84k QA + SPARQL 标注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我们用：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癌症子集 40 题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对口原因：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同源于 PrimeKG，评测 KG 结构化检索能力。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0F1B3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「作者自造 20 题」 →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标准基准 70 题 + 自制 10 题补充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直接化解 reviewer 两大质疑：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循环评测 </a:t>
            </a:r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样本量偏小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MTBBench 2025-11 刚发布 → 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第一批使用 = 论文新颖性加分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测试集策略升级：3 轨混搭 70 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45720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164592" cy="10515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轨道 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1737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内部消融（保留）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332720" y="173736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1033272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212140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题 KG 优化集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证明 Bridge / 多 Agent / KB 贡献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11064240" cy="1691640"/>
          </a:xfrm>
          <a:prstGeom prst="rect">
            <a:avLst/>
          </a:prstGeom>
          <a:solidFill>
            <a:srgbClr val="FFF8E6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788920"/>
            <a:ext cx="164592" cy="1691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轨道 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8600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论文主实验 ★ 混搭 70 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332720" y="29718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10332720" y="2971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" y="3355848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B1.  PrimeKGQA 癌症子集     40 题  → KG 基准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B2.  MTBBench 纵向文本       20 题  → 真实 MTB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B3.  自制 MTB 补充集         10 题  → 多跳特色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663440"/>
            <a:ext cx="164592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800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轨道 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28600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可选：泛化能力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332720" y="484632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10332720" y="4846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286000" y="52303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时间分割测试集（若时间允许）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评测指标体系：6 类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47472" y="45720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630936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类别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指标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计算方法 / 说明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 Recall@5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|pred ∩ gold| / |gold|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Pathway F1 / Bridge Hit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子图级别命中率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Traceability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|cited ∩ expected| / |expected|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 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 judge：无证据断言占比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Utility (1-5)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医生盲评（参考 Knowledge Connector）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Depth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推理链多跳边占比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57150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可复现性承诺：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Prompt、测试集、筛选脚本、实验配置全部固定提交到 Git，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保证消融与主实验可 1:1 复现（对标 DeepRare / RareAgents 开源规范）。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两周计划 + 待老师确认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594360"/>
            <a:ext cx="9144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6583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65836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  04-27 ~ 05-03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 + 脚本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D1-3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筛选 B1 (40) / B2 (20) / 自制 B3 (10)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D4-5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compute_system_metrics.py + workflow coverage_level 改造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65836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794760"/>
            <a:ext cx="658368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794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  05-04 ~ 05-10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跑实验 + 分析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 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题 pilot 验证 4 档 pipeline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D2-3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跑完整 70 × 4 = 280 份预测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D4-5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主表 + 2-3 典型案例分析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06640" y="1463040"/>
            <a:ext cx="4206240" cy="4526280"/>
          </a:xfrm>
          <a:prstGeom prst="rect">
            <a:avLst/>
          </a:prstGeom>
          <a:solidFill>
            <a:srgbClr val="0F1B3D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待老师确认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680960" y="210312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0" y="23774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2331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 作为主场景是否认可？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80960" y="352044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474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「KG 未覆盖安全降级」作为论文核心卖点是否认可？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8096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2104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混搭 70 题测试集策略是否可行？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感谢老师的指导 🙏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GDgpt 进展汇报 · 2026-04-26 · 叶文倩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GDgpt 项目进展汇报 v2.1</dc:title>
  <dc:subject>PptxGenJS Presentation</dc:subject>
  <dc:creator>叶文倩</dc:creator>
  <cp:lastModifiedBy>叶文倩</cp:lastModifiedBy>
  <cp:revision>1</cp:revision>
  <dcterms:created xsi:type="dcterms:W3CDTF">2026-04-26T08:19:17Z</dcterms:created>
  <dcterms:modified xsi:type="dcterms:W3CDTF">2026-04-26T08:19:17Z</dcterms:modified>
</cp:coreProperties>
</file>